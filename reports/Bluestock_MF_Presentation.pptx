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F2B13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Lumpsum</c:v>
                </c:pt>
                <c:pt idx="1">
                  <c:v>Redemption</c:v>
                </c:pt>
                <c:pt idx="2">
                  <c:v>SIP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58.5</c:v>
                </c:pt>
                <c:pt idx="1">
                  <c:v>35.3</c:v>
                </c:pt>
                <c:pt idx="2">
                  <c:v>6.2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(₹ Bn)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Punjab</c:v>
                  </c:pt>
                  <c:pt idx="1">
                    <c:v>Tamil Nadu</c:v>
                  </c:pt>
                  <c:pt idx="2">
                    <c:v>Madhya Pradesh</c:v>
                  </c:pt>
                  <c:pt idx="3">
                    <c:v>Rajasthan</c:v>
                  </c:pt>
                  <c:pt idx="4">
                    <c:v>Gujarat</c:v>
                  </c:pt>
                  <c:pt idx="5">
                    <c:v>West Bengal</c:v>
                  </c:pt>
                  <c:pt idx="6">
                    <c:v>Telangana</c:v>
                  </c:pt>
                  <c:pt idx="7">
                    <c:v>Delhi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0.41</c:v>
                </c:pt>
                <c:pt idx="1">
                  <c:v>0.39</c:v>
                </c:pt>
                <c:pt idx="2">
                  <c:v>0.37</c:v>
                </c:pt>
                <c:pt idx="3">
                  <c:v>0.34</c:v>
                </c:pt>
                <c:pt idx="4">
                  <c:v>0.32</c:v>
                </c:pt>
                <c:pt idx="5">
                  <c:v>0.3</c:v>
                </c:pt>
                <c:pt idx="6">
                  <c:v>0.28</c:v>
                </c:pt>
                <c:pt idx="7">
                  <c:v>0.26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amount_inr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1148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•  CAPSTONE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Performance Analysis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pipeline, dashboard and advanced analytics suite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mutual fund investment behaviour, performance and risk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572000"/>
            <a:ext cx="2743200" cy="0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8463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 Treesa Joseph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Intern, Bluestock Fintech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celintreesa700@gmail.com   |  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icons/bullseye_deep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74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4892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needed a unified view of how 5,000 investors across India engage with mutual funds — where they invest, how much, through which transaction types, and how those funds actually perform on a risk-adjusted basis. Raw data existed only as 10 disconnected CSV exports with no cleaning, modelling, or visualisation layer, making it impossible to answer these questions quickly or reliably.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1" descr="icons/cogs_deep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74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1874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583680" y="26060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Python ETL pipeline to clean and unify 10 structured datasets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exploratory analysis of investment behaviour, geography and demographics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risk-adjusted performance metrics: CAGR, Sharpe, Sortino, Drawdown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VaR / CVaR, cohort, SIP continuity and HHI concentration analysis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rule-based Fund Recommendation Engine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4-page interactive Power BI dashboard for stakeholders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Performance Analysis  |  June 2026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65960" y="160020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169164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32,778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965960" y="233172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60020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69164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233172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60020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69164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2023-25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00600" y="233172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Primary Datasets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fund_master.csv — Fund master reference data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nav_history.csv — Daily NAV per fund and date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aum_by_fund_house.csv — AUM by fund house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monthly_sip_inflows.csv — Monthly SIP inflows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category_inflows.csv — Category-level inflows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0" y="370332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industry_folio_count.csv — Industry folio counts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scheme_performance.csv — CAGR, Sharpe, drawdown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investor_transactions.csv — Transaction records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portfolio_holdings.csv — Portfolio holdings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benchmark_indices.csv — Benchmark index data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0" y="160020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20" name="Image 0" descr="icons/table_deep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178308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418320" y="1783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Columns Used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91540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amfi_code, nav, transaction_date, amount_inr,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age_group, investor_id, transaction_type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686800" y="3200400"/>
            <a:ext cx="2971800" cy="3063240"/>
          </a:xfrm>
          <a:prstGeom prst="roundRect">
            <a:avLst>
              <a:gd name="adj" fmla="val 2462"/>
            </a:avLst>
          </a:prstGeom>
          <a:solidFill>
            <a:srgbClr val="21295C"/>
          </a:solidFill>
          <a:ln/>
        </p:spPr>
      </p:sp>
      <p:pic>
        <p:nvPicPr>
          <p:cNvPr id="24" name="Image 1" descr="icons/syn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3429000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418320" y="34290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Snapshot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8915400" y="3931920"/>
            <a:ext cx="2606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Frequency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— provided as static CSVs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Fixes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on NAV series; flag-based imputation for missing amounts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Key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investor_id + transaction_date composite key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Performance Analysis  |  June 2026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331720" cy="2377440"/>
          </a:xfrm>
          <a:prstGeom prst="roundRect">
            <a:avLst>
              <a:gd name="adj" fmla="val 3922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icons/csv_deep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24231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063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Raw CSVs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361188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history, transactions,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AUM, SIP, holdings,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benchmarks, scorecards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017520" y="3218688"/>
            <a:ext cx="411480" cy="329184"/>
          </a:xfrm>
          <a:prstGeom prst="rightArrow">
            <a:avLst/>
          </a:prstGeom>
          <a:solidFill>
            <a:srgbClr val="F2B134"/>
          </a:solidFill>
          <a:ln/>
        </p:spPr>
      </p:sp>
      <p:sp>
        <p:nvSpPr>
          <p:cNvPr id="9" name="Shape 6"/>
          <p:cNvSpPr/>
          <p:nvPr/>
        </p:nvSpPr>
        <p:spPr>
          <a:xfrm>
            <a:off x="3474720" y="2194560"/>
            <a:ext cx="2331720" cy="2377440"/>
          </a:xfrm>
          <a:prstGeom prst="roundRect">
            <a:avLst>
              <a:gd name="adj" fmla="val 3922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icons/python_deep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24231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3063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ETL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(Pandas / NumPy)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11880" y="361188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parsing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handling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852160" y="3218688"/>
            <a:ext cx="411480" cy="329184"/>
          </a:xfrm>
          <a:prstGeom prst="rightArrow">
            <a:avLst/>
          </a:prstGeom>
          <a:solidFill>
            <a:srgbClr val="F2B134"/>
          </a:solidFill>
          <a:ln/>
        </p:spPr>
      </p:sp>
      <p:sp>
        <p:nvSpPr>
          <p:cNvPr id="14" name="Shape 10"/>
          <p:cNvSpPr/>
          <p:nvPr/>
        </p:nvSpPr>
        <p:spPr>
          <a:xfrm>
            <a:off x="6309360" y="2194560"/>
            <a:ext cx="2331720" cy="2377440"/>
          </a:xfrm>
          <a:prstGeom prst="roundRect">
            <a:avLst>
              <a:gd name="adj" fmla="val 3922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icons/database_deep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24231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3063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46520" y="361188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analysis-ready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 exported to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/data/processed/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686800" y="3218688"/>
            <a:ext cx="411480" cy="329184"/>
          </a:xfrm>
          <a:prstGeom prst="rightArrow">
            <a:avLst/>
          </a:prstGeom>
          <a:solidFill>
            <a:srgbClr val="F2B134"/>
          </a:solidFill>
          <a:ln/>
        </p:spPr>
      </p:sp>
      <p:sp>
        <p:nvSpPr>
          <p:cNvPr id="19" name="Shape 14"/>
          <p:cNvSpPr/>
          <p:nvPr/>
        </p:nvSpPr>
        <p:spPr>
          <a:xfrm>
            <a:off x="9144000" y="2194560"/>
            <a:ext cx="2331720" cy="2377440"/>
          </a:xfrm>
          <a:prstGeom prst="roundRect">
            <a:avLst>
              <a:gd name="adj" fmla="val 392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icons/chartb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5540" y="242316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35440" y="3063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Python Analytics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281160" y="361188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interactive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Sharpe, Cohort,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4008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Transformation Steps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40080" y="53492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all 10 CSVs into Pandas DataFrames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Parse transaction_date &amp; nav_date to datetime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434840" y="53492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Drop duplicates on investor_id + transaction_date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Forward-fill NAV series; flag null amount_inr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8229600" y="53492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Engineer year/month, age bins, category flags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Export cleaned CSVs to /data/processed/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Performance Analysis  |  June 2026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Investment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737360" cy="1783080"/>
          </a:xfrm>
          <a:prstGeom prst="roundRect">
            <a:avLst>
              <a:gd name="adj" fmla="val 4211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icons/wallet_deep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40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 Bn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27432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(INR)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23160" y="1600200"/>
            <a:ext cx="1737360" cy="1783080"/>
          </a:xfrm>
          <a:prstGeom prst="roundRect">
            <a:avLst>
              <a:gd name="adj" fmla="val 4211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1" descr="icons/users_deep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7830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14600" y="2240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2514600" y="27432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97680" y="1600200"/>
            <a:ext cx="1737360" cy="1783080"/>
          </a:xfrm>
          <a:prstGeom prst="roundRect">
            <a:avLst>
              <a:gd name="adj" fmla="val 4211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icons/exchange_deep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7830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89120" y="2240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32,778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4389120" y="27432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Share by Transaction Type</a:t>
            </a:r>
            <a:endParaRPr lang="en-US" sz="15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0" y="201168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8" name="Shape 12"/>
          <p:cNvSpPr/>
          <p:nvPr/>
        </p:nvSpPr>
        <p:spPr>
          <a:xfrm>
            <a:off x="548640" y="3657600"/>
            <a:ext cx="5577840" cy="2423160"/>
          </a:xfrm>
          <a:prstGeom prst="roundRect">
            <a:avLst>
              <a:gd name="adj" fmla="val 3019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icons/bulb_deep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8620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5880" y="38862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777240" y="443484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Lumpsum investments contribute the highest share of total investment value, while SIP contributes the smallest share.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transactions remain the most frequent by count, reflecting strong adoption of systematic investing.</a:t>
            </a:r>
            <a:endParaRPr lang="en-US" sz="1300" dirty="0"/>
          </a:p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Redemptions account for a substantial middle share of activity, indicating active portfolio churn.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Performance Analysis  |  June 2026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Geography &amp; Trends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Investing States (Sum of Amount, ₹ Bn)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6035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Volume by Year (₹ Bn)</a:t>
            </a:r>
            <a:endParaRPr lang="en-US" sz="15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858000" y="2011680"/>
          <a:ext cx="47548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858000" y="4343400"/>
            <a:ext cx="4754880" cy="1737360"/>
          </a:xfrm>
          <a:prstGeom prst="roundRect">
            <a:avLst>
              <a:gd name="adj" fmla="val 4211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0" descr="icons/map_deep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52628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43800" y="452628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Punjab, Tamil Nadu and Madhya Pradesh lead in transaction volume, highlighting regional concentration that can guide targeted outreach. 2024 recorded notably higher activity than 2025, suggesting either a 2024 peak or incomplete 2025 data capture.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Performance Analysis  |  June 2026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— Core Indicators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chart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4825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92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CAGR Analysis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Annual Growth Rate computed per fund to gauge long-term return.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6916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9202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04825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892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 Ratio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26060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return relative to a benchmark rate; basis for fund ranking.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21040" y="16916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19202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syn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204825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81160" y="1892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Sortino Ratio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49640" y="26060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Downside-deviation-adjusted return, focusing on harmful volatility.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3434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s/chartb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47141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3159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Drawdown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77240" y="50292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peak-to-trough decline observed for each fund.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34840" y="411480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43434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icons/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471416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94960" y="43159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Classification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663440" y="50292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grouped into Low / Medium / High risk based on volatility.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321040" y="411480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49640" y="43434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icons/robo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7656" y="4471416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81160" y="43159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Recommendation System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549640" y="50292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 using Sharpe, CAGR and drawdown scores.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Performance Analysis  |  June 2026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— Advanced Analytics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4297680"/>
        </p:xfrm>
        <a:graphic>
          <a:graphicData uri="http://schemas.openxmlformats.org/drawingml/2006/table">
            <a:tbl>
              <a:tblPr/>
              <a:tblGrid>
                <a:gridCol w="2651760"/>
                <a:gridCol w="4297680"/>
              </a:tblGrid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Analysis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733"/>
                          </a:solidFill>
                        </a:rPr>
                        <a:t>Historical VaR &amp; CVaR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</a:rPr>
                        <a:t>Value at Risk and Conditional VaR computed at 95% confidence level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733"/>
                          </a:solidFill>
                        </a:rPr>
                        <a:t>Rolling 90-Day Sharpe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</a:rPr>
                        <a:t>Rolling Sharpe Ratio tracked over time; charted in Matplotlib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733"/>
                          </a:solidFill>
                        </a:rPr>
                        <a:t>Investor Cohort Analysis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</a:rPr>
                        <a:t>Investors grouped by join cohort; retention and activity tracked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733"/>
                          </a:solidFill>
                        </a:rPr>
                        <a:t>SIP Continuity Analysis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</a:rPr>
                        <a:t>SIP investors tracked for payment continuity and drop-off patterns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733"/>
                          </a:solidFill>
                        </a:rPr>
                        <a:t>HHI Concentration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</a:rPr>
                        <a:t>Herfindahl-Hirschman Index used to measure fund concentration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733"/>
                          </a:solidFill>
                        </a:rPr>
                        <a:t>Fund Recommendation Engine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</a:rPr>
                        <a:t>Rule-based system recommending funds by risk profile and score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91640"/>
            <a:ext cx="3931920" cy="4297680"/>
          </a:xfrm>
          <a:prstGeom prst="roundRect">
            <a:avLst>
              <a:gd name="adj" fmla="val 1860"/>
            </a:avLst>
          </a:prstGeom>
          <a:solidFill>
            <a:srgbClr val="21295C"/>
          </a:solidFill>
          <a:ln/>
        </p:spPr>
      </p:sp>
      <p:pic>
        <p:nvPicPr>
          <p:cNvPr id="6" name="Image 0" descr="icons/chartpi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92024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9536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001000" y="260604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beyond raw returns to surface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fund quality.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investors at risk of dropping SIP contributions.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concentration risk across the fund universe via HHI.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a rule-based recommender for personalised fund matching.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Performance Analysis  |  June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Industry &amp; Investor Analytics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618488"/>
            <a:ext cx="6246119" cy="4718304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/mnt/user-data/uploads/Screenshot_2026-06-12_1108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099815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691640"/>
            <a:ext cx="3246120" cy="4572000"/>
          </a:xfrm>
          <a:prstGeom prst="roundRect">
            <a:avLst>
              <a:gd name="adj" fmla="val 2254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0" y="1920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Highlights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0" y="2423160"/>
            <a:ext cx="2834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 KPI: ₹4 Bn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Count: 32.778K transactions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transaction type and year slicers drive every visual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breaks down investment by Lumpsum / Redemption / SIP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▪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bar ranks Punjab, Tamil Nadu, MP at the top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Performance Analysis  |  June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Fund Performance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" y="1618488"/>
            <a:ext cx="6161798" cy="4718304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/mnt/user-data/uploads/Screenshot_2026-06-12_1108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015494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691640"/>
            <a:ext cx="3246120" cy="4572000"/>
          </a:xfrm>
          <a:prstGeom prst="roundRect">
            <a:avLst>
              <a:gd name="adj" fmla="val 2254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0" y="1920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Highlights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0" y="2423160"/>
            <a:ext cx="2834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CAGR across funds: 0.17 (17%)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and AMFI fund code slicers for granular drill-down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by amfi_code chart compares fund growth rates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vs Score scatter highlights risk-adjusted leaders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▪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table lists Sharpe and Score totals per fund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Performance Analysis  |  June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0" cy="4572000"/>
          </a:xfrm>
          <a:prstGeom prst="roundRect">
            <a:avLst>
              <a:gd name="adj" fmla="val 1600"/>
            </a:avLst>
          </a:prstGeom>
          <a:solidFill>
            <a:srgbClr val="EEF5F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icons/chartline_deep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920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4688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Lumpsum dominates investment value; SIP dominates transaction frequency.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Punjab, Tamil Nadu and Madhya Pradesh are the top three investing states.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transaction volume exceeded 2025, pointing to a possible activity peak or incomplete 2025 capture.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metrics (Sharpe, Sortino, drawdown) reveal meaningful variation across Low / Medium / High risk funds.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▪"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investors show more stable, long-term participation per cohort analysis.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0" y="169164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21295C"/>
          </a:solidFill>
          <a:ln/>
        </p:spPr>
      </p:sp>
      <p:pic>
        <p:nvPicPr>
          <p:cNvPr id="9" name="Image 1" descr="icons/bul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202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19202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629400" y="246888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SIP investments for consistency and stable long-term outcomes.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across risk grades using the fund scorecard.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Sharpe Ratio over raw CAGR for fund selection.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maximum drawdown before investing in high-CAGR funds.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live NAV ingestion and a scheduled Power BI refresh.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▪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recommender with a Scikit-learn model for quartile predictions.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Performance Analysis  |  June 2026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9456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181905" y="4114800"/>
            <a:ext cx="1828800" cy="0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43484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 Treesa Joseph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Intern, Bluestock Fintech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celintreesa700@gmail.com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linkedin.com/in/celin-treesa-joseph-907978354   |   github.com/celintreesa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Fintech - Mutual Fund Performance Analysis</dc:title>
  <dc:subject>PptxGenJS Presentation</dc:subject>
  <dc:creator>Celin Treesa Joseph</dc:creator>
  <cp:lastModifiedBy>Celin Treesa Joseph</cp:lastModifiedBy>
  <cp:revision>1</cp:revision>
  <dcterms:created xsi:type="dcterms:W3CDTF">2026-06-12T06:38:39Z</dcterms:created>
  <dcterms:modified xsi:type="dcterms:W3CDTF">2026-06-12T06:38:39Z</dcterms:modified>
</cp:coreProperties>
</file>